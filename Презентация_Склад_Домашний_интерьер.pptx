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F02D0-FEC7-4C5F-8188-DC8573060CCB}" v="4" dt="2026-09-14T19:10:41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min ..." userId="e9736c068f2a20b8" providerId="LiveId" clId="{EA9456F5-6174-43DC-862E-EA052AB92C55}"/>
    <pc:docChg chg="undo custSel modSld modMainMaster">
      <pc:chgData name="Admin ..." userId="e9736c068f2a20b8" providerId="LiveId" clId="{EA9456F5-6174-43DC-862E-EA052AB92C55}" dt="2026-09-14T19:10:41.158" v="88"/>
      <pc:docMkLst>
        <pc:docMk/>
      </pc:docMkLst>
      <pc:sldChg chg="modSp mod modTransition">
        <pc:chgData name="Admin ..." userId="e9736c068f2a20b8" providerId="LiveId" clId="{EA9456F5-6174-43DC-862E-EA052AB92C55}" dt="2026-09-14T19:10:41.158" v="88"/>
        <pc:sldMkLst>
          <pc:docMk/>
          <pc:sldMk cId="0" sldId="256"/>
        </pc:sldMkLst>
        <pc:spChg chg="mod">
          <ac:chgData name="Admin ..." userId="e9736c068f2a20b8" providerId="LiveId" clId="{EA9456F5-6174-43DC-862E-EA052AB92C55}" dt="2026-09-14T19:05:16.987" v="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dmin ..." userId="e9736c068f2a20b8" providerId="LiveId" clId="{EA9456F5-6174-43DC-862E-EA052AB92C55}" dt="2026-09-14T19:05:57.427" v="39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dmin ..." userId="e9736c068f2a20b8" providerId="LiveId" clId="{EA9456F5-6174-43DC-862E-EA052AB92C55}" dt="2026-09-14T19:05:52.456" v="38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dmin ..." userId="e9736c068f2a20b8" providerId="LiveId" clId="{EA9456F5-6174-43DC-862E-EA052AB92C55}" dt="2026-09-14T19:06:08.653" v="51" actId="20577"/>
          <ac:spMkLst>
            <pc:docMk/>
            <pc:sldMk cId="0" sldId="256"/>
            <ac:spMk id="7" creationId="{00000000-0000-0000-0000-000000000000}"/>
          </ac:spMkLst>
        </pc:spChg>
        <pc:picChg chg="mod">
          <ac:chgData name="Admin ..." userId="e9736c068f2a20b8" providerId="LiveId" clId="{EA9456F5-6174-43DC-862E-EA052AB92C55}" dt="2026-09-14T19:05:40.761" v="37" actId="1076"/>
          <ac:picMkLst>
            <pc:docMk/>
            <pc:sldMk cId="0" sldId="256"/>
            <ac:picMk id="2" creationId="{00000000-0000-0000-0000-000000000000}"/>
          </ac:picMkLst>
        </pc:picChg>
        <pc:picChg chg="mod">
          <ac:chgData name="Admin ..." userId="e9736c068f2a20b8" providerId="LiveId" clId="{EA9456F5-6174-43DC-862E-EA052AB92C55}" dt="2026-09-14T19:05:07.315" v="0" actId="14100"/>
          <ac:picMkLst>
            <pc:docMk/>
            <pc:sldMk cId="0" sldId="256"/>
            <ac:picMk id="9" creationId="{00000000-0000-0000-0000-000000000000}"/>
          </ac:picMkLst>
        </pc:picChg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57"/>
        </pc:sldMkLst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58"/>
        </pc:sldMkLst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59"/>
        </pc:sldMkLst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60"/>
        </pc:sldMkLst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61"/>
        </pc:sldMkLst>
      </pc:sldChg>
      <pc:sldChg chg="addSp delSp modSp mod modTransition">
        <pc:chgData name="Admin ..." userId="e9736c068f2a20b8" providerId="LiveId" clId="{EA9456F5-6174-43DC-862E-EA052AB92C55}" dt="2026-09-14T19:10:41.158" v="88"/>
        <pc:sldMkLst>
          <pc:docMk/>
          <pc:sldMk cId="0" sldId="262"/>
        </pc:sldMkLst>
        <pc:spChg chg="mod">
          <ac:chgData name="Admin ..." userId="e9736c068f2a20b8" providerId="LiveId" clId="{EA9456F5-6174-43DC-862E-EA052AB92C55}" dt="2026-09-14T19:07:11.546" v="53" actId="14100"/>
          <ac:spMkLst>
            <pc:docMk/>
            <pc:sldMk cId="0" sldId="262"/>
            <ac:spMk id="4" creationId="{00000000-0000-0000-0000-000000000000}"/>
          </ac:spMkLst>
        </pc:spChg>
        <pc:spChg chg="del">
          <ac:chgData name="Admin ..." userId="e9736c068f2a20b8" providerId="LiveId" clId="{EA9456F5-6174-43DC-862E-EA052AB92C55}" dt="2026-09-14T19:06:57.331" v="52" actId="478"/>
          <ac:spMkLst>
            <pc:docMk/>
            <pc:sldMk cId="0" sldId="262"/>
            <ac:spMk id="5" creationId="{00000000-0000-0000-0000-000000000000}"/>
          </ac:spMkLst>
        </pc:spChg>
        <pc:spChg chg="add del">
          <ac:chgData name="Admin ..." userId="e9736c068f2a20b8" providerId="LiveId" clId="{EA9456F5-6174-43DC-862E-EA052AB92C55}" dt="2026-09-14T19:08:09.747" v="55" actId="22"/>
          <ac:spMkLst>
            <pc:docMk/>
            <pc:sldMk cId="0" sldId="262"/>
            <ac:spMk id="12" creationId="{15E8A3B0-A07B-5638-8EB6-F056B5E6A9E9}"/>
          </ac:spMkLst>
        </pc:spChg>
        <pc:spChg chg="add">
          <ac:chgData name="Admin ..." userId="e9736c068f2a20b8" providerId="LiveId" clId="{EA9456F5-6174-43DC-862E-EA052AB92C55}" dt="2026-09-14T19:08:13.728" v="56" actId="22"/>
          <ac:spMkLst>
            <pc:docMk/>
            <pc:sldMk cId="0" sldId="262"/>
            <ac:spMk id="14" creationId="{2878250F-0466-363E-5F55-9D5755B814AD}"/>
          </ac:spMkLst>
        </pc:spChg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63"/>
        </pc:sldMkLst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64"/>
        </pc:sldMkLst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65"/>
        </pc:sldMkLst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66"/>
        </pc:sldMkLst>
      </pc:sldChg>
      <pc:sldChg chg="modSp mod modTransition">
        <pc:chgData name="Admin ..." userId="e9736c068f2a20b8" providerId="LiveId" clId="{EA9456F5-6174-43DC-862E-EA052AB92C55}" dt="2026-09-14T19:10:41.158" v="88"/>
        <pc:sldMkLst>
          <pc:docMk/>
          <pc:sldMk cId="0" sldId="267"/>
        </pc:sldMkLst>
        <pc:spChg chg="mod">
          <ac:chgData name="Admin ..." userId="e9736c068f2a20b8" providerId="LiveId" clId="{EA9456F5-6174-43DC-862E-EA052AB92C55}" dt="2026-09-14T19:09:35.656" v="82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Admin ..." userId="e9736c068f2a20b8" providerId="LiveId" clId="{EA9456F5-6174-43DC-862E-EA052AB92C55}" dt="2026-09-14T19:08:37.151" v="59" actId="20577"/>
          <ac:spMkLst>
            <pc:docMk/>
            <pc:sldMk cId="0" sldId="267"/>
            <ac:spMk id="20" creationId="{00000000-0000-0000-0000-000000000000}"/>
          </ac:spMkLst>
        </pc:spChg>
        <pc:spChg chg="mod">
          <ac:chgData name="Admin ..." userId="e9736c068f2a20b8" providerId="LiveId" clId="{EA9456F5-6174-43DC-862E-EA052AB92C55}" dt="2026-09-14T19:09:27.957" v="77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Admin ..." userId="e9736c068f2a20b8" providerId="LiveId" clId="{EA9456F5-6174-43DC-862E-EA052AB92C55}" dt="2026-09-14T19:09:33.237" v="80" actId="107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Admin ..." userId="e9736c068f2a20b8" providerId="LiveId" clId="{EA9456F5-6174-43DC-862E-EA052AB92C55}" dt="2026-09-14T19:09:39.046" v="83" actId="107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Admin ..." userId="e9736c068f2a20b8" providerId="LiveId" clId="{EA9456F5-6174-43DC-862E-EA052AB92C55}" dt="2026-09-14T19:09:50.562" v="84" actId="1076"/>
          <ac:spMkLst>
            <pc:docMk/>
            <pc:sldMk cId="0" sldId="267"/>
            <ac:spMk id="24" creationId="{00000000-0000-0000-0000-000000000000}"/>
          </ac:spMkLst>
        </pc:spChg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68"/>
        </pc:sldMkLst>
      </pc:sldChg>
      <pc:sldChg chg="modTransition">
        <pc:chgData name="Admin ..." userId="e9736c068f2a20b8" providerId="LiveId" clId="{EA9456F5-6174-43DC-862E-EA052AB92C55}" dt="2026-09-14T19:10:41.158" v="88"/>
        <pc:sldMkLst>
          <pc:docMk/>
          <pc:sldMk cId="0" sldId="269"/>
        </pc:sldMkLst>
      </pc:sldChg>
      <pc:sldMasterChg chg="modTransition modSldLayout">
        <pc:chgData name="Admin ..." userId="e9736c068f2a20b8" providerId="LiveId" clId="{EA9456F5-6174-43DC-862E-EA052AB92C55}" dt="2026-09-14T19:10:41.158" v="88"/>
        <pc:sldMasterMkLst>
          <pc:docMk/>
          <pc:sldMasterMk cId="2209977519" sldId="2147483648"/>
        </pc:sldMasterMkLst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3168075583" sldId="2147483649"/>
          </pc:sldLayoutMkLst>
        </pc:sldLayoutChg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1840726560" sldId="2147483656"/>
          </pc:sldLayoutMkLst>
        </pc:sldLayoutChg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3889236939" sldId="2147483657"/>
          </pc:sldLayoutMkLst>
        </pc:sldLayoutChg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Transition">
          <pc:chgData name="Admin ..." userId="e9736c068f2a20b8" providerId="LiveId" clId="{EA9456F5-6174-43DC-862E-EA052AB92C55}" dt="2026-09-14T19:10:41.158" v="88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692640" y="548640"/>
            <a:ext cx="2194560" cy="21945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731520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A5B4FC"/>
                </a:solidFill>
                <a:latin typeface="Segoe UI"/>
              </a:rPr>
              <a:t>ПРЕЗЕНТАЦИЯ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07336"/>
            <a:ext cx="6949440" cy="21705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dirty="0" err="1">
                <a:solidFill>
                  <a:srgbClr val="FFFFFF"/>
                </a:solidFill>
                <a:latin typeface="Segoe UI"/>
              </a:rPr>
              <a:t>Склад</a:t>
            </a:r>
            <a:r>
              <a:rPr sz="46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4600" b="1" dirty="0" err="1">
                <a:solidFill>
                  <a:srgbClr val="FFFFFF"/>
                </a:solidFill>
                <a:latin typeface="Segoe UI"/>
              </a:rPr>
              <a:t>мебельного</a:t>
            </a:r>
            <a:r>
              <a:rPr sz="46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4600" b="1" dirty="0" err="1">
                <a:solidFill>
                  <a:srgbClr val="FFFFFF"/>
                </a:solidFill>
                <a:latin typeface="Segoe UI"/>
              </a:rPr>
              <a:t>магазина</a:t>
            </a:r>
            <a:r>
              <a:rPr lang="ru-RU" sz="4600" b="1" dirty="0">
                <a:solidFill>
                  <a:srgbClr val="FFFFFF"/>
                </a:solidFill>
                <a:latin typeface="Segoe UI"/>
              </a:rPr>
              <a:t> ООО «Домашний интерьер»</a:t>
            </a:r>
            <a:endParaRPr sz="46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4462272"/>
            <a:ext cx="6949440" cy="1463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D3DCFF"/>
                </a:solidFill>
                <a:latin typeface="Segoe UI"/>
              </a:rPr>
              <a:t>Информационная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система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 «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Домашний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интерьер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»: 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адресный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учёт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товара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штрихкоды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 и 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умное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размещение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на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CFF"/>
                </a:solidFill>
                <a:latin typeface="Segoe UI"/>
              </a:rPr>
              <a:t>складе</a:t>
            </a:r>
            <a:r>
              <a:rPr sz="1700" b="0" dirty="0">
                <a:solidFill>
                  <a:srgbClr val="D3DCFF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93792"/>
            <a:ext cx="694944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 dirty="0">
                <a:solidFill>
                  <a:srgbClr val="FFFFFF"/>
                </a:solidFill>
                <a:latin typeface="Segoe UI"/>
              </a:rPr>
              <a:t>Выполнили: </a:t>
            </a:r>
            <a:r>
              <a:rPr lang="ru-RU" sz="1500" b="1" dirty="0" err="1">
                <a:solidFill>
                  <a:srgbClr val="FFFFFF"/>
                </a:solidFill>
                <a:latin typeface="Segoe UI"/>
              </a:rPr>
              <a:t>Пильчук</a:t>
            </a:r>
            <a:r>
              <a:rPr lang="ru-RU" sz="1500" b="1" dirty="0">
                <a:solidFill>
                  <a:srgbClr val="FFFFFF"/>
                </a:solidFill>
                <a:latin typeface="Segoe UI"/>
              </a:rPr>
              <a:t> С.Ю, Резанов К.В.</a:t>
            </a:r>
            <a:endParaRPr sz="1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5583526"/>
            <a:ext cx="694944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A5B4FC"/>
                </a:solidFill>
                <a:latin typeface="Segoe UI"/>
              </a:rPr>
              <a:t>Проект</a:t>
            </a:r>
            <a:r>
              <a:rPr sz="1300" b="0" dirty="0">
                <a:solidFill>
                  <a:srgbClr val="A5B4FC"/>
                </a:solidFill>
                <a:latin typeface="Segoe UI"/>
              </a:rPr>
              <a:t> 202</a:t>
            </a:r>
            <a:r>
              <a:rPr lang="ru-RU" sz="1300" b="0" dirty="0">
                <a:solidFill>
                  <a:srgbClr val="A5B4FC"/>
                </a:solidFill>
                <a:latin typeface="Segoe UI"/>
              </a:rPr>
              <a:t>6</a:t>
            </a:r>
            <a:endParaRPr sz="1300" b="0" dirty="0">
              <a:solidFill>
                <a:srgbClr val="A5B4FC"/>
              </a:solidFill>
              <a:latin typeface="Segoe UI"/>
            </a:endParaRPr>
          </a:p>
        </p:txBody>
      </p:sp>
      <p:pic>
        <p:nvPicPr>
          <p:cNvPr id="9" name="Picture 8" descr="dashboard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658" y="777240"/>
            <a:ext cx="4142822" cy="2495798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Склад, который работает вслепую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4924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82296" cy="2057400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19" y="2039112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C2333"/>
                </a:solidFill>
                <a:latin typeface="Segoe UI"/>
              </a:rPr>
              <a:t>Учёт</a:t>
            </a:r>
            <a:r>
              <a:rPr sz="1800" b="1" dirty="0">
                <a:solidFill>
                  <a:srgbClr val="1C2333"/>
                </a:solidFill>
                <a:latin typeface="Segoe UI"/>
              </a:rPr>
              <a:t> в Excel и </a:t>
            </a:r>
            <a:r>
              <a:rPr sz="1800" b="1" dirty="0" err="1">
                <a:solidFill>
                  <a:srgbClr val="1C2333"/>
                </a:solidFill>
                <a:latin typeface="Segoe UI"/>
              </a:rPr>
              <a:t>на</a:t>
            </a:r>
            <a:r>
              <a:rPr sz="1800" b="1" dirty="0">
                <a:solidFill>
                  <a:srgbClr val="1C2333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1C2333"/>
                </a:solidFill>
                <a:latin typeface="Segoe UI"/>
              </a:rPr>
              <a:t>бумаге</a:t>
            </a:r>
            <a:endParaRPr sz="1800" b="1" dirty="0">
              <a:solidFill>
                <a:srgbClr val="1C2333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19" y="2651760"/>
            <a:ext cx="480060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6B7487"/>
                </a:solidFill>
                <a:latin typeface="Segoe UI"/>
              </a:rPr>
              <a:t>Никто</a:t>
            </a:r>
            <a:r>
              <a:rPr sz="140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6B7487"/>
                </a:solidFill>
                <a:latin typeface="Segoe UI"/>
              </a:rPr>
              <a:t>не</a:t>
            </a:r>
            <a:r>
              <a:rPr sz="140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6B7487"/>
                </a:solidFill>
                <a:latin typeface="Segoe UI"/>
              </a:rPr>
              <a:t>знает</a:t>
            </a:r>
            <a:r>
              <a:rPr sz="140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6B7487"/>
                </a:solidFill>
                <a:latin typeface="Segoe UI"/>
              </a:rPr>
              <a:t>точных</a:t>
            </a:r>
            <a:r>
              <a:rPr sz="140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6B7487"/>
                </a:solidFill>
                <a:latin typeface="Segoe UI"/>
              </a:rPr>
              <a:t>остатков</a:t>
            </a:r>
            <a:r>
              <a:rPr sz="1400" b="0" dirty="0">
                <a:solidFill>
                  <a:srgbClr val="6B7487"/>
                </a:solidFill>
                <a:latin typeface="Segoe UI"/>
              </a:rPr>
              <a:t>, </a:t>
            </a:r>
            <a:r>
              <a:rPr sz="1400" b="0" dirty="0" err="1">
                <a:solidFill>
                  <a:srgbClr val="6B7487"/>
                </a:solidFill>
                <a:latin typeface="Segoe UI"/>
              </a:rPr>
              <a:t>пока</a:t>
            </a:r>
            <a:r>
              <a:rPr sz="140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6B7487"/>
                </a:solidFill>
                <a:latin typeface="Segoe UI"/>
              </a:rPr>
              <a:t>не</a:t>
            </a:r>
            <a:r>
              <a:rPr sz="140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6B7487"/>
                </a:solidFill>
                <a:latin typeface="Segoe UI"/>
              </a:rPr>
              <a:t>сходит</a:t>
            </a:r>
            <a:r>
              <a:rPr sz="1400" b="0" dirty="0">
                <a:solidFill>
                  <a:srgbClr val="6B7487"/>
                </a:solidFill>
                <a:latin typeface="Segoe UI"/>
              </a:rPr>
              <a:t> в </a:t>
            </a:r>
            <a:r>
              <a:rPr sz="1400" b="0" dirty="0" err="1">
                <a:solidFill>
                  <a:srgbClr val="6B7487"/>
                </a:solidFill>
                <a:latin typeface="Segoe UI"/>
              </a:rPr>
              <a:t>торговый</a:t>
            </a:r>
            <a:r>
              <a:rPr sz="140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6B7487"/>
                </a:solidFill>
                <a:latin typeface="Segoe UI"/>
              </a:rPr>
              <a:t>зал</a:t>
            </a:r>
            <a:r>
              <a:rPr sz="1400" b="0" dirty="0">
                <a:solidFill>
                  <a:srgbClr val="6B7487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534924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82296" cy="2057400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039112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333"/>
                </a:solidFill>
                <a:latin typeface="Segoe UI"/>
              </a:rPr>
              <a:t>Товар ищут «глазами»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51760"/>
            <a:ext cx="480060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487"/>
                </a:solidFill>
                <a:latin typeface="Segoe UI"/>
              </a:rPr>
              <a:t>Диван серый путают с бежевым — возвраты и недовольные клиенты.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534924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4206240"/>
            <a:ext cx="82296" cy="2057400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19" y="4462272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333"/>
                </a:solidFill>
                <a:latin typeface="Segoe UI"/>
              </a:rPr>
              <a:t>Инвентаризация — это дни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5074920"/>
            <a:ext cx="480060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487"/>
                </a:solidFill>
                <a:latin typeface="Segoe UI"/>
              </a:rPr>
              <a:t>Склад встаёт, чтобы просто пересчитать товар вручную.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206240"/>
            <a:ext cx="534924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0" y="4206240"/>
            <a:ext cx="82296" cy="2057400"/>
          </a:xfrm>
          <a:prstGeom prst="roundRect">
            <a:avLst>
              <a:gd name="adj" fmla="val 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4462272"/>
            <a:ext cx="4800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333"/>
                </a:solidFill>
                <a:latin typeface="Segoe UI"/>
              </a:rPr>
              <a:t>Знания уходят с людьми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074920"/>
            <a:ext cx="480060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487"/>
                </a:solidFill>
                <a:latin typeface="Segoe UI"/>
              </a:rPr>
              <a:t>Уволился кладовщик — вместе с ним исчезла «карта» склада.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Одна система вместо таблиц и догадок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53212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0292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333"/>
                </a:solidFill>
                <a:latin typeface="Segoe UI"/>
              </a:rPr>
              <a:t>Система хранит не просто список товаров — она знает, где каждая вещь лежит и что делать дальше.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5074920" cy="2743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333"/>
                </a:solidFill>
                <a:latin typeface="Segoe UI"/>
              </a:rPr>
              <a:t>▪ Каждая единица товара привязана к адресу «стеллаж – секция – ярус».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333"/>
                </a:solidFill>
                <a:latin typeface="Segoe UI"/>
              </a:rPr>
              <a:t>▪ Система сама подсказывает, куда положить поступивший товар и что взять в первую очередь.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333"/>
                </a:solidFill>
                <a:latin typeface="Segoe UI"/>
              </a:rPr>
              <a:t>▪ Смартфон заменяет дорогое оборудование: штрихкод сканируется камерой.</a:t>
            </a:r>
          </a:p>
        </p:txBody>
      </p:sp>
      <p:pic>
        <p:nvPicPr>
          <p:cNvPr id="9" name="Picture 8" descr="dashboard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74519"/>
            <a:ext cx="5074920" cy="305732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870448"/>
            <a:ext cx="10908792" cy="566928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012847"/>
            <a:ext cx="10908792" cy="28212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Segoe UI"/>
              </a:rPr>
              <a:t>−40% </a:t>
            </a:r>
            <a:r>
              <a:rPr sz="1500" b="1" dirty="0" err="1">
                <a:solidFill>
                  <a:srgbClr val="FFFFFF"/>
                </a:solidFill>
                <a:latin typeface="Segoe UI"/>
              </a:rPr>
              <a:t>времени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Segoe UI"/>
              </a:rPr>
              <a:t>сборки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           −90% </a:t>
            </a:r>
            <a:r>
              <a:rPr sz="1500" b="1" dirty="0" err="1">
                <a:solidFill>
                  <a:srgbClr val="FFFFFF"/>
                </a:solidFill>
                <a:latin typeface="Segoe UI"/>
              </a:rPr>
              <a:t>ошибок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Segoe UI"/>
              </a:rPr>
              <a:t>пересорта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     </a:t>
            </a:r>
            <a:r>
              <a:rPr lang="ru-RU" sz="15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    </a:t>
            </a:r>
            <a:r>
              <a:rPr sz="1500" b="1" dirty="0" err="1">
                <a:solidFill>
                  <a:srgbClr val="FFFFFF"/>
                </a:solidFill>
                <a:latin typeface="Segoe UI"/>
              </a:rPr>
              <a:t>окупается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Segoe UI"/>
              </a:rPr>
              <a:t>за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4–6 </a:t>
            </a:r>
            <a:r>
              <a:rPr sz="1500" b="1" dirty="0" err="1">
                <a:solidFill>
                  <a:srgbClr val="FFFFFF"/>
                </a:solidFill>
                <a:latin typeface="Segoe UI"/>
              </a:rPr>
              <a:t>месяцев</a:t>
            </a:r>
            <a:endParaRPr sz="1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Руководитель видит склад целиком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7360920" cy="44345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874519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75320" y="1874519"/>
            <a:ext cx="82296" cy="1234440"/>
          </a:xfrm>
          <a:prstGeom prst="roundRect">
            <a:avLst>
              <a:gd name="adj" fmla="val 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22208" y="2039112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KPI дня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8" y="2441448"/>
            <a:ext cx="28346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487"/>
                </a:solidFill>
                <a:latin typeface="Segoe UI"/>
              </a:rPr>
              <a:t>свободный остаток, отгрузки, дефицит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24612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75320" y="3246120"/>
            <a:ext cx="82296" cy="1234440"/>
          </a:xfrm>
          <a:prstGeom prst="roundRect">
            <a:avLst>
              <a:gd name="adj" fmla="val 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22208" y="3410712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Заполненность зон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3813048"/>
            <a:ext cx="28346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487"/>
                </a:solidFill>
                <a:latin typeface="Segoe UI"/>
              </a:rPr>
              <a:t>где есть место, а где — нет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461772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75320" y="4617720"/>
            <a:ext cx="82296" cy="1234440"/>
          </a:xfrm>
          <a:prstGeom prst="roundRect">
            <a:avLst>
              <a:gd name="adj" fmla="val 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22208" y="4782312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Что дозаказать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5184648"/>
            <a:ext cx="28346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487"/>
                </a:solidFill>
                <a:latin typeface="Segoe UI"/>
              </a:rPr>
              <a:t>товары ниже минимума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КЛЮЧЕВАЯ ФИШКА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Карта склада: где что лежит — видно сразу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ap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7040880" cy="4241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9560" y="2011680"/>
            <a:ext cx="3611880" cy="3840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C2333"/>
                </a:solidFill>
                <a:latin typeface="Segoe UI"/>
              </a:rPr>
              <a:t>▪ Цвет ячейки = насколько она загружена: зелёная — свободна, красная — полна.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C2333"/>
                </a:solidFill>
                <a:latin typeface="Segoe UI"/>
              </a:rPr>
              <a:t>▪ Клик по ячейке — что внутри, вместимость и статус.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C2333"/>
                </a:solidFill>
                <a:latin typeface="Segoe UI"/>
              </a:rPr>
              <a:t>▪ Крупногабарит и мелочь хранятся в разных зонах — по правилам «ходкости».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КАТАЛОГ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Карточка товара со всеми данными и штрихкодом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roduct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766560" cy="4076439"/>
          </a:xfrm>
          <a:prstGeom prst="rect">
            <a:avLst/>
          </a:prstGeom>
        </p:spPr>
      </p:pic>
      <p:pic>
        <p:nvPicPr>
          <p:cNvPr id="7" name="Picture 6" descr="product_form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74519"/>
            <a:ext cx="4114800" cy="24789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97880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7487"/>
                </a:solidFill>
                <a:latin typeface="Segoe UI"/>
              </a:rPr>
              <a:t>▪ Габариты, вес, хрупкость, класс ходкости A/B/C, минимальный остаток — и автоматическая генерация штрихкода для этикетки.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КАК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Четыре шага: от поставки до отгрузки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615184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19" y="2468880"/>
            <a:ext cx="777240" cy="777240"/>
          </a:xfrm>
          <a:prstGeom prst="roundRect">
            <a:avLst>
              <a:gd name="adj" fmla="val 4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19" y="2468880"/>
            <a:ext cx="77724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429000"/>
            <a:ext cx="197510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333"/>
                </a:solidFill>
                <a:latin typeface="Segoe UI"/>
              </a:rPr>
              <a:t>Приёмка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977639"/>
            <a:ext cx="1975104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7487"/>
                </a:solidFill>
                <a:latin typeface="Segoe UI"/>
              </a:rPr>
              <a:t>Накладная поставщика — печать этикеток со штрихкодом.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1" y="3611880"/>
            <a:ext cx="292608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4E8E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2148840"/>
            <a:ext cx="2615184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67911" y="2468880"/>
            <a:ext cx="777240" cy="77724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7911" y="2468880"/>
            <a:ext cx="77724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1" y="3429000"/>
            <a:ext cx="197510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333"/>
                </a:solidFill>
                <a:latin typeface="Segoe UI"/>
              </a:rPr>
              <a:t>Размещение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1" y="3977639"/>
            <a:ext cx="1975104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7487"/>
                </a:solidFill>
                <a:latin typeface="Segoe UI"/>
              </a:rPr>
              <a:t>Система сама подбирает ячейки под габариты и вес.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3611880"/>
            <a:ext cx="292608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4E8EF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5664" y="2148840"/>
            <a:ext cx="2615184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775703" y="2468880"/>
            <a:ext cx="777240" cy="777240"/>
          </a:xfrm>
          <a:prstGeom prst="roundRect">
            <a:avLst>
              <a:gd name="adj" fmla="val 42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75703" y="2468880"/>
            <a:ext cx="77724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3" y="3429000"/>
            <a:ext cx="197510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333"/>
                </a:solidFill>
                <a:latin typeface="Segoe UI"/>
              </a:rPr>
              <a:t>Сборка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3" y="3977639"/>
            <a:ext cx="1975104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7487"/>
                </a:solidFill>
                <a:latin typeface="Segoe UI"/>
              </a:rPr>
              <a:t>Оптимальный маршрут обхода склада для кладовщика.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3611880"/>
            <a:ext cx="292608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4E8EF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63455" y="2148840"/>
            <a:ext cx="2615184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83495" y="2468880"/>
            <a:ext cx="777240" cy="777240"/>
          </a:xfrm>
          <a:prstGeom prst="roundRect">
            <a:avLst>
              <a:gd name="adj" fmla="val 4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83495" y="2468880"/>
            <a:ext cx="77724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5" y="3429000"/>
            <a:ext cx="197510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333"/>
                </a:solidFill>
                <a:latin typeface="Segoe UI"/>
              </a:rPr>
              <a:t>Отгрузка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5" y="3977639"/>
            <a:ext cx="1975104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7487"/>
                </a:solidFill>
                <a:latin typeface="Segoe UI"/>
              </a:rPr>
              <a:t>Резерв списан, заказ закрыт, данные в отчёте.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109728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487"/>
                </a:solidFill>
                <a:latin typeface="Segoe UI"/>
              </a:rPr>
              <a:t>На каждом шаге фиксируется, кто и когда внёс изменение — ошибки видны сразу.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Мы закрываем пустую нишу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6616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C2626"/>
                </a:solidFill>
                <a:latin typeface="Segoe UI"/>
              </a:rPr>
              <a:t>Дорогие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31546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487"/>
                </a:solidFill>
                <a:latin typeface="Segoe UI"/>
              </a:rPr>
              <a:t>Внедрение от 300 000 ₽, сложный интерфейс, нужен штатный программист.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2712" y="1920240"/>
            <a:ext cx="356616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11312" y="214884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A580C"/>
                </a:solidFill>
                <a:latin typeface="Segoe UI"/>
              </a:rPr>
              <a:t>Excel и бумага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2606040"/>
            <a:ext cx="31546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487"/>
                </a:solidFill>
                <a:latin typeface="Segoe UI"/>
              </a:rPr>
              <a:t>Дёшево, но без автоматизации: ошибки ввода, нет штрихкодов, инвентаризация вручную.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48840"/>
            <a:ext cx="3319272" cy="2743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2971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Наш продукт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01752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0E7FF"/>
                </a:solidFill>
                <a:latin typeface="Segoe UI"/>
              </a:rPr>
              <a:t>Адресный учёт и штрихкоды крупногабарита, как у ERP — по цене Excel.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Простая и надёжная платформа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rch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126480" cy="4044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2011680"/>
            <a:ext cx="4480560" cy="3840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C2333"/>
                </a:solidFill>
                <a:latin typeface="Segoe UI"/>
              </a:rPr>
              <a:t>▪ Работает на одном сервере — не нужна сложная инфраструктура.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C2333"/>
                </a:solidFill>
                <a:latin typeface="Segoe UI"/>
              </a:rPr>
              <a:t>▪ Знакомый стек (Node.js, React): легко поддерживать и дорабатывать.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C2333"/>
                </a:solidFill>
                <a:latin typeface="Segoe UI"/>
              </a:rPr>
              <a:t>▪ База данных без установки сервера — запуск за минуту.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C2333"/>
                </a:solidFill>
                <a:latin typeface="Segoe UI"/>
              </a:rPr>
              <a:t>▪ 41 автоматический тест: каждая функция проверена.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КОНТРОЛЬ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Прозрачность и безопасность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858000" cy="41315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2011680"/>
            <a:ext cx="3749039" cy="3840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1C2333"/>
                </a:solidFill>
                <a:latin typeface="Segoe UI"/>
              </a:rPr>
              <a:t>▪ 4 роли с разными правами: от кладовщика до администратора.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1C2333"/>
                </a:solidFill>
                <a:latin typeface="Segoe UI"/>
              </a:rPr>
              <a:t>▪ Журнал: кто, когда и что изменил — защита от ошибок и краж.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1C2333"/>
                </a:solidFill>
                <a:latin typeface="Segoe UI"/>
              </a:rPr>
              <a:t>▪ Запрет на случайное удаление товара или ячейки с товаром.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1C2333"/>
                </a:solidFill>
                <a:latin typeface="Segoe UI"/>
              </a:rPr>
              <a:t>▪ Резервные копии базы данных.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Выгода и окупаемость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61518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67127"/>
            <a:ext cx="2615184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A34A"/>
                </a:solidFill>
                <a:latin typeface="Segoe UI"/>
              </a:rPr>
              <a:t>−40%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17520"/>
            <a:ext cx="2249424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487"/>
                </a:solidFill>
                <a:latin typeface="Segoe UI"/>
              </a:rPr>
              <a:t>время сборки заказа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874519"/>
            <a:ext cx="261518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2167127"/>
            <a:ext cx="2615184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46E5"/>
                </a:solidFill>
                <a:latin typeface="Segoe UI"/>
              </a:rPr>
              <a:t>−90%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3017520"/>
            <a:ext cx="2249424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487"/>
                </a:solidFill>
                <a:latin typeface="Segoe UI"/>
              </a:rPr>
              <a:t>ошибки пересорта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1874519"/>
            <a:ext cx="261518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2167127"/>
            <a:ext cx="2615184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A580C"/>
                </a:solidFill>
                <a:latin typeface="Segoe UI"/>
              </a:rPr>
              <a:t>4 часа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3017520"/>
            <a:ext cx="2249424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487"/>
                </a:solidFill>
                <a:latin typeface="Segoe UI"/>
              </a:rPr>
              <a:t>инвентаризация вместо 2 дней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3455" y="1874519"/>
            <a:ext cx="261518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63455" y="2167127"/>
            <a:ext cx="2615184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DC2626"/>
                </a:solidFill>
                <a:latin typeface="Segoe UI"/>
              </a:rPr>
              <a:t>4–6 мес.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5" y="3017520"/>
            <a:ext cx="2249424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487"/>
                </a:solidFill>
                <a:latin typeface="Segoe UI"/>
              </a:rPr>
              <a:t>окупаемость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10908792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1C2333"/>
                </a:solidFill>
                <a:latin typeface="Segoe UI"/>
              </a:rPr>
              <a:t>Смета</a:t>
            </a:r>
            <a:r>
              <a:rPr sz="1700" b="1" dirty="0">
                <a:solidFill>
                  <a:srgbClr val="1C2333"/>
                </a:solidFill>
                <a:latin typeface="Segoe UI"/>
              </a:rPr>
              <a:t> </a:t>
            </a:r>
            <a:r>
              <a:rPr sz="1700" b="1" dirty="0" err="1">
                <a:solidFill>
                  <a:srgbClr val="1C2333"/>
                </a:solidFill>
                <a:latin typeface="Segoe UI"/>
              </a:rPr>
              <a:t>проекта</a:t>
            </a:r>
            <a:r>
              <a:rPr sz="1700" b="1" dirty="0">
                <a:solidFill>
                  <a:srgbClr val="1C2333"/>
                </a:solidFill>
                <a:latin typeface="Segoe UI"/>
              </a:rPr>
              <a:t>: 310 000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2651760" cy="2619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6B7487"/>
                </a:solidFill>
                <a:latin typeface="Segoe UI"/>
              </a:rPr>
              <a:t>Команда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6B7487"/>
                </a:solidFill>
                <a:latin typeface="Segoe UI"/>
              </a:rPr>
              <a:t>разработки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 — 250000₽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617720"/>
            <a:ext cx="2743200" cy="2619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6B7487"/>
                </a:solidFill>
                <a:latin typeface="Segoe UI"/>
              </a:rPr>
              <a:t>Сервер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 (</a:t>
            </a:r>
            <a:r>
              <a:rPr sz="1350" b="0" dirty="0" err="1">
                <a:solidFill>
                  <a:srgbClr val="6B7487"/>
                </a:solidFill>
                <a:latin typeface="Segoe UI"/>
              </a:rPr>
              <a:t>аренда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6B7487"/>
                </a:solidFill>
                <a:latin typeface="Segoe UI"/>
              </a:rPr>
              <a:t>на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6B7487"/>
                </a:solidFill>
                <a:latin typeface="Segoe UI"/>
              </a:rPr>
              <a:t>год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) —</a:t>
            </a:r>
            <a:r>
              <a:rPr lang="ru-RU" sz="135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20000₽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17720"/>
            <a:ext cx="2651760" cy="2619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6B7487"/>
                </a:solidFill>
                <a:latin typeface="Segoe UI"/>
              </a:rPr>
              <a:t>Принтер </a:t>
            </a:r>
            <a:r>
              <a:rPr sz="1350" b="0" dirty="0" err="1">
                <a:solidFill>
                  <a:srgbClr val="6B7487"/>
                </a:solidFill>
                <a:latin typeface="Segoe UI"/>
              </a:rPr>
              <a:t>этикеток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 — 15000 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4860" y="461772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6B7487"/>
                </a:solidFill>
                <a:latin typeface="Segoe UI"/>
              </a:rPr>
              <a:t>Лицензии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 ПО — 5 000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71091"/>
            <a:ext cx="2961410" cy="2619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6B7487"/>
                </a:solidFill>
                <a:latin typeface="Segoe UI"/>
              </a:rPr>
              <a:t>Непредвиденные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6B7487"/>
                </a:solidFill>
                <a:latin typeface="Segoe UI"/>
              </a:rPr>
              <a:t>расходы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 </a:t>
            </a:r>
            <a:r>
              <a:rPr lang="ru-RU" sz="1350" b="0" dirty="0">
                <a:solidFill>
                  <a:srgbClr val="6B7487"/>
                </a:solidFill>
                <a:latin typeface="Segoe UI"/>
              </a:rPr>
              <a:t>— </a:t>
            </a:r>
            <a:r>
              <a:rPr sz="1350" b="0" dirty="0">
                <a:solidFill>
                  <a:srgbClr val="6B7487"/>
                </a:solidFill>
                <a:latin typeface="Segoe UI"/>
              </a:rPr>
              <a:t>20000₽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C2333"/>
                </a:solidFill>
                <a:latin typeface="Segoe UI"/>
              </a:rPr>
              <a:t>Как мы внедряем — около 10 недель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0292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54864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9848" y="230428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304288"/>
            <a:ext cx="512064" cy="5120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" y="3063240"/>
            <a:ext cx="192024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7373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C2333"/>
                </a:solidFill>
                <a:latin typeface="Segoe UI"/>
              </a:rPr>
              <a:t>Анализ и ТЗ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21608"/>
            <a:ext cx="173736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7"/>
                </a:solidFill>
                <a:latin typeface="Segoe UI"/>
              </a:rPr>
              <a:t>Знакомство со складом, диаграммы, согласование требований.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36392" y="230428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36392" y="2304288"/>
            <a:ext cx="512064" cy="5120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2304" y="3063240"/>
            <a:ext cx="192024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23744" y="3246120"/>
            <a:ext cx="17373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C2333"/>
                </a:solidFill>
                <a:latin typeface="Segoe UI"/>
              </a:rPr>
              <a:t>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3721608"/>
            <a:ext cx="173736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7"/>
                </a:solidFill>
                <a:latin typeface="Segoe UI"/>
              </a:rPr>
              <a:t>Каркас приложения, вход, справочники, база данных.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2936" y="230428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02936" y="2304288"/>
            <a:ext cx="512064" cy="5120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3063240"/>
            <a:ext cx="192024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3246120"/>
            <a:ext cx="17373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C2333"/>
                </a:solidFill>
                <a:latin typeface="Segoe UI"/>
              </a:rPr>
              <a:t>Складская логика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721608"/>
            <a:ext cx="173736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7"/>
                </a:solidFill>
                <a:latin typeface="Segoe UI"/>
              </a:rPr>
              <a:t>Приёмка, размещение, сборка, карта склада.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30428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2304288"/>
            <a:ext cx="512064" cy="5120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3063240"/>
            <a:ext cx="192024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56832" y="3246120"/>
            <a:ext cx="17373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C2333"/>
                </a:solidFill>
                <a:latin typeface="Segoe UI"/>
              </a:rPr>
              <a:t>Тестирование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3721608"/>
            <a:ext cx="173736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7"/>
                </a:solidFill>
                <a:latin typeface="Segoe UI"/>
              </a:rPr>
              <a:t>Нагрузка данными, проверка с реальными сотрудниками.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36024" y="230428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36024" y="2304288"/>
            <a:ext cx="512064" cy="5120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31936" y="3063240"/>
            <a:ext cx="192024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3246120"/>
            <a:ext cx="17373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C2333"/>
                </a:solidFill>
                <a:latin typeface="Segoe UI"/>
              </a:rPr>
              <a:t>Внедрение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3376" y="3721608"/>
            <a:ext cx="173736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7"/>
                </a:solidFill>
                <a:latin typeface="Segoe UI"/>
              </a:rPr>
              <a:t>Установка, обучение персонала, сдача-приёмка.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7"/>
                </a:solidFill>
                <a:latin typeface="Segoe UI"/>
              </a:rPr>
              <a:t>«Домашний интерьер» — система управления складом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46E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325880"/>
            <a:ext cx="1042416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3DCFF"/>
                </a:solidFill>
                <a:latin typeface="Segoe UI"/>
              </a:rPr>
              <a:t>Готовы показать систему вживую и обсудить условия сотрудничества.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5B4FC"/>
                </a:solidFill>
                <a:latin typeface="Segoe UI"/>
              </a:rPr>
              <a:t>Телефон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0624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Segoe UI"/>
              </a:rPr>
              <a:t>+7 999 888-77-66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65760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384048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5B4FC"/>
                </a:solidFill>
                <a:latin typeface="Segoe UI"/>
              </a:rPr>
              <a:t>Telegram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420624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Segoe UI"/>
              </a:rPr>
              <a:t>@adsfbsdf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65760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384048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5B4FC"/>
                </a:solidFill>
                <a:latin typeface="Segoe UI"/>
              </a:rPr>
              <a:t>E-mail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20624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sdfksdfmnfd@gmail.com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5B4FC"/>
                </a:solidFill>
                <a:latin typeface="Segoe UI"/>
              </a:rPr>
              <a:t>«Домашний интерьер» — система управления складом мебельного магазина</a:t>
            </a:r>
          </a:p>
        </p:txBody>
      </p:sp>
    </p:spTree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788</Words>
  <Application>Microsoft Office PowerPoint</Application>
  <PresentationFormat>Широкоэкранный</PresentationFormat>
  <Paragraphs>140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 ...</cp:lastModifiedBy>
  <cp:revision>3</cp:revision>
  <dcterms:created xsi:type="dcterms:W3CDTF">2013-01-27T09:14:16Z</dcterms:created>
  <dcterms:modified xsi:type="dcterms:W3CDTF">2026-09-16T18:48:03Z</dcterms:modified>
  <cp:category/>
</cp:coreProperties>
</file>